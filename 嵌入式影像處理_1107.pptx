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8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設計" id="{5840EF85-AC94-4CF0-A851-81CC79AAFBB4}">
          <p14:sldIdLst>
            <p14:sldId id="258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昱承 朱" initials="昱承" lastIdx="1" clrIdx="0">
    <p:extLst>
      <p:ext uri="{19B8F6BF-5375-455C-9EA6-DF929625EA0E}">
        <p15:presenceInfo xmlns:p15="http://schemas.microsoft.com/office/powerpoint/2012/main" userId="3d995507defa065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05" autoAdjust="0"/>
  </p:normalViewPr>
  <p:slideViewPr>
    <p:cSldViewPr snapToGrid="0">
      <p:cViewPr>
        <p:scale>
          <a:sx n="87" d="100"/>
          <a:sy n="87" d="100"/>
        </p:scale>
        <p:origin x="6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8280"/>
    </p:cViewPr>
  </p:sorterViewPr>
  <p:notesViewPr>
    <p:cSldViewPr snapToGrid="0">
      <p:cViewPr varScale="1">
        <p:scale>
          <a:sx n="86" d="100"/>
          <a:sy n="86" d="100"/>
        </p:scale>
        <p:origin x="378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9F8E0-05F2-4742-BB97-D2E4F51035C8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EDBFE4-86DF-49E3-AB07-98BBBFC455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92504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905C5-9D54-40E2-B40C-7996280CAB02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8A6B0B-A5FB-4629-B823-69B1A9EB3A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117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4295163"/>
            <a:ext cx="10515600" cy="1964122"/>
          </a:xfrm>
        </p:spPr>
        <p:txBody>
          <a:bodyPr>
            <a:normAutofit/>
          </a:bodyPr>
          <a:lstStyle>
            <a:lvl1pPr marL="0" indent="0" algn="l">
              <a:spcBef>
                <a:spcPts val="100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29"/>
            <a:ext cx="10515600" cy="2905634"/>
          </a:xfrm>
        </p:spPr>
        <p:txBody>
          <a:bodyPr anchor="t"/>
          <a:lstStyle>
            <a:lvl1pPr algn="ctr">
              <a:defRPr sz="60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516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1850"/>
            <a:ext cx="10515600" cy="5037776"/>
          </a:xfrm>
        </p:spPr>
        <p:txBody>
          <a:bodyPr>
            <a:normAutofit/>
          </a:bodyPr>
          <a:lstStyle>
            <a:lvl1pPr hangingPunct="0"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426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606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493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767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634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183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6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184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8943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641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714DB0-407F-464B-8567-70F1AA7CC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3EC0A1-79A2-4F44-AB2C-C62299F40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3F0E37-0586-49BD-A1B1-922F939B2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B0DA3-1C91-429E-85DF-004AAF88FDEC}" type="datetimeFigureOut">
              <a:rPr lang="zh-TW" altLang="en-US" smtClean="0"/>
              <a:t>2024/11/7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3A1272-70A2-4510-8EF1-85BAD20E9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CABD805-152E-4508-A4D5-B91FE1506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16158-51B5-430F-A74C-56C243575C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7756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202572"/>
            <a:ext cx="10515600" cy="5037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0C0CC965-A63A-473D-BEFB-C8F9714D5269}" type="datetimeFigureOut">
              <a:rPr lang="zh-TW" altLang="en-US" smtClean="0"/>
              <a:pPr/>
              <a:t>2024/11/7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90F9E983-480B-48C5-9E0F-D21C0DFBB5C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9" name="直線接點 8"/>
          <p:cNvCxnSpPr/>
          <p:nvPr userDrawn="1"/>
        </p:nvCxnSpPr>
        <p:spPr>
          <a:xfrm>
            <a:off x="838200" y="1143848"/>
            <a:ext cx="10515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 userDrawn="1"/>
        </p:nvCxnSpPr>
        <p:spPr>
          <a:xfrm>
            <a:off x="838200" y="6296092"/>
            <a:ext cx="105156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Shape 13" descr="C:\Documents and Settings\frederic\My Documents\My Pictures\Wallpaper Images\GSLAB_LOGO1-120x120.jpg"/>
          <p:cNvPicPr preferRelativeResize="0">
            <a:picLocks noChangeAspect="1"/>
          </p:cNvPicPr>
          <p:nvPr userDrawn="1"/>
        </p:nvPicPr>
        <p:blipFill rotWithShape="1">
          <a:blip r:embed="rId14">
            <a:alphaModFix/>
          </a:blip>
          <a:srcRect/>
          <a:stretch/>
        </p:blipFill>
        <p:spPr>
          <a:xfrm>
            <a:off x="11596536" y="6270925"/>
            <a:ext cx="561907" cy="5619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842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j-cs"/>
        </a:defRPr>
      </a:lvl1pPr>
    </p:titleStyle>
    <p:bodyStyle>
      <a:lvl1pPr marL="144000" indent="-1440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1pPr>
      <a:lvl2pPr marL="6858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2pPr>
      <a:lvl3pPr marL="11430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3pPr>
      <a:lvl4pPr marL="16002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4pPr>
      <a:lvl5pPr marL="20574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zh-TW" altLang="en-US" dirty="0"/>
              <a:t>設計 </a:t>
            </a:r>
            <a:r>
              <a:rPr lang="en-US" altLang="zh-TW" dirty="0"/>
              <a:t>– </a:t>
            </a:r>
            <a:r>
              <a:rPr lang="zh-TW" altLang="en-US" dirty="0"/>
              <a:t>架構圖</a:t>
            </a:r>
            <a:endParaRPr lang="zh-TW" altLang="en-US" b="1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BCEF3DF-8442-4196-B9C8-8032A4815170}"/>
              </a:ext>
            </a:extLst>
          </p:cNvPr>
          <p:cNvSpPr/>
          <p:nvPr/>
        </p:nvSpPr>
        <p:spPr>
          <a:xfrm>
            <a:off x="2259788" y="3429000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輸入影像</a:t>
            </a:r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D1F3CBC7-485A-4061-87A5-78209873E8BC}"/>
              </a:ext>
            </a:extLst>
          </p:cNvPr>
          <p:cNvCxnSpPr>
            <a:cxnSpLocks/>
            <a:stCxn id="53" idx="3"/>
          </p:cNvCxnSpPr>
          <p:nvPr/>
        </p:nvCxnSpPr>
        <p:spPr>
          <a:xfrm>
            <a:off x="3450557" y="3701335"/>
            <a:ext cx="714375" cy="12700"/>
          </a:xfrm>
          <a:prstGeom prst="bentConnector3">
            <a:avLst>
              <a:gd name="adj1" fmla="val -2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30BC9DDA-10F8-A439-AD6F-36D3F586C154}"/>
              </a:ext>
            </a:extLst>
          </p:cNvPr>
          <p:cNvSpPr/>
          <p:nvPr/>
        </p:nvSpPr>
        <p:spPr>
          <a:xfrm>
            <a:off x="4164932" y="3441700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圖像前處理</a:t>
            </a:r>
          </a:p>
        </p:txBody>
      </p:sp>
      <p:cxnSp>
        <p:nvCxnSpPr>
          <p:cNvPr id="32" name="接點: 肘形 31">
            <a:extLst>
              <a:ext uri="{FF2B5EF4-FFF2-40B4-BE49-F238E27FC236}">
                <a16:creationId xmlns:a16="http://schemas.microsoft.com/office/drawing/2014/main" id="{1DF75C9F-A568-1313-0595-1FBDF2981934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5355701" y="3714035"/>
            <a:ext cx="714375" cy="12700"/>
          </a:xfrm>
          <a:prstGeom prst="bentConnector3">
            <a:avLst>
              <a:gd name="adj1" fmla="val -2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AF37309E-A8C8-CB61-64CE-5517D3F18056}"/>
              </a:ext>
            </a:extLst>
          </p:cNvPr>
          <p:cNvSpPr/>
          <p:nvPr/>
        </p:nvSpPr>
        <p:spPr>
          <a:xfrm>
            <a:off x="6070076" y="3429000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路面提取</a:t>
            </a:r>
          </a:p>
        </p:txBody>
      </p:sp>
      <p:cxnSp>
        <p:nvCxnSpPr>
          <p:cNvPr id="37" name="接點: 肘形 36">
            <a:extLst>
              <a:ext uri="{FF2B5EF4-FFF2-40B4-BE49-F238E27FC236}">
                <a16:creationId xmlns:a16="http://schemas.microsoft.com/office/drawing/2014/main" id="{058E0265-06AA-13B9-673B-BD5496D5A781}"/>
              </a:ext>
            </a:extLst>
          </p:cNvPr>
          <p:cNvCxnSpPr>
            <a:cxnSpLocks/>
          </p:cNvCxnSpPr>
          <p:nvPr/>
        </p:nvCxnSpPr>
        <p:spPr>
          <a:xfrm>
            <a:off x="7260845" y="3714035"/>
            <a:ext cx="714375" cy="12700"/>
          </a:xfrm>
          <a:prstGeom prst="bentConnector3">
            <a:avLst>
              <a:gd name="adj1" fmla="val -2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 37">
            <a:extLst>
              <a:ext uri="{FF2B5EF4-FFF2-40B4-BE49-F238E27FC236}">
                <a16:creationId xmlns:a16="http://schemas.microsoft.com/office/drawing/2014/main" id="{CCED5CB2-27F8-6E53-8EE0-4277C0928ECF}"/>
              </a:ext>
            </a:extLst>
          </p:cNvPr>
          <p:cNvSpPr/>
          <p:nvPr/>
        </p:nvSpPr>
        <p:spPr>
          <a:xfrm>
            <a:off x="7975220" y="3441700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輸出</a:t>
            </a:r>
          </a:p>
        </p:txBody>
      </p:sp>
    </p:spTree>
    <p:extLst>
      <p:ext uri="{BB962C8B-B14F-4D97-AF65-F5344CB8AC3E}">
        <p14:creationId xmlns:p14="http://schemas.microsoft.com/office/powerpoint/2010/main" val="2246033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zh-TW" altLang="en-US" b="1" dirty="0"/>
              <a:t>流程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BCEF3DF-8442-4196-B9C8-8032A4815170}"/>
              </a:ext>
            </a:extLst>
          </p:cNvPr>
          <p:cNvSpPr/>
          <p:nvPr/>
        </p:nvSpPr>
        <p:spPr>
          <a:xfrm>
            <a:off x="938127" y="1855535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 err="1"/>
              <a:t>img</a:t>
            </a:r>
            <a:endParaRPr lang="zh-TW" altLang="en-US" sz="1200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F0C4960-95D2-45A3-B11D-3234097A527E}"/>
              </a:ext>
            </a:extLst>
          </p:cNvPr>
          <p:cNvSpPr/>
          <p:nvPr/>
        </p:nvSpPr>
        <p:spPr>
          <a:xfrm>
            <a:off x="2367021" y="2780138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灰階</a:t>
            </a:r>
            <a:endParaRPr lang="en-US" altLang="zh-TW" sz="1200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683C6DF-3131-434C-B064-321130651657}"/>
              </a:ext>
            </a:extLst>
          </p:cNvPr>
          <p:cNvSpPr/>
          <p:nvPr/>
        </p:nvSpPr>
        <p:spPr>
          <a:xfrm>
            <a:off x="2367021" y="3636049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高斯模糊</a:t>
            </a:r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D1F3CBC7-485A-4061-87A5-78209873E8BC}"/>
              </a:ext>
            </a:extLst>
          </p:cNvPr>
          <p:cNvCxnSpPr>
            <a:cxnSpLocks/>
            <a:stCxn id="53" idx="2"/>
            <a:endCxn id="54" idx="0"/>
          </p:cNvCxnSpPr>
          <p:nvPr/>
        </p:nvCxnSpPr>
        <p:spPr>
          <a:xfrm rot="16200000" flipH="1">
            <a:off x="2057992" y="1875724"/>
            <a:ext cx="379934" cy="142889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63B54201-B228-4A74-B958-65FEF70B3BA5}"/>
              </a:ext>
            </a:extLst>
          </p:cNvPr>
          <p:cNvCxnSpPr>
            <a:cxnSpLocks/>
            <a:stCxn id="54" idx="2"/>
            <a:endCxn id="56" idx="0"/>
          </p:cNvCxnSpPr>
          <p:nvPr/>
        </p:nvCxnSpPr>
        <p:spPr>
          <a:xfrm>
            <a:off x="2962406" y="3324807"/>
            <a:ext cx="0" cy="3112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右大括弧 50">
            <a:extLst>
              <a:ext uri="{FF2B5EF4-FFF2-40B4-BE49-F238E27FC236}">
                <a16:creationId xmlns:a16="http://schemas.microsoft.com/office/drawing/2014/main" id="{9AC0D502-7B3E-4E9D-8FC1-9FC2D8D17E72}"/>
              </a:ext>
            </a:extLst>
          </p:cNvPr>
          <p:cNvSpPr/>
          <p:nvPr/>
        </p:nvSpPr>
        <p:spPr>
          <a:xfrm rot="5400000">
            <a:off x="2853279" y="4687673"/>
            <a:ext cx="298303" cy="119076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B99CE16C-FB93-4551-BEED-AA26F977F6D0}"/>
              </a:ext>
            </a:extLst>
          </p:cNvPr>
          <p:cNvSpPr txBox="1"/>
          <p:nvPr/>
        </p:nvSpPr>
        <p:spPr>
          <a:xfrm>
            <a:off x="2338090" y="5493910"/>
            <a:ext cx="13286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影像前處理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B68E10A-5E00-F4F4-456A-7E46E1A1724C}"/>
              </a:ext>
            </a:extLst>
          </p:cNvPr>
          <p:cNvSpPr/>
          <p:nvPr/>
        </p:nvSpPr>
        <p:spPr>
          <a:xfrm>
            <a:off x="2373592" y="4458247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Sobel</a:t>
            </a:r>
            <a:endParaRPr lang="zh-TW" altLang="en-US" sz="1200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4009-9AFC-03B5-3880-965CFEAF3B2E}"/>
              </a:ext>
            </a:extLst>
          </p:cNvPr>
          <p:cNvSpPr/>
          <p:nvPr/>
        </p:nvSpPr>
        <p:spPr>
          <a:xfrm>
            <a:off x="6465766" y="2282813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搜尋</a:t>
            </a:r>
          </a:p>
        </p:txBody>
      </p: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B6134022-FB51-AA1D-ABD3-3B0DD3A0DE9A}"/>
              </a:ext>
            </a:extLst>
          </p:cNvPr>
          <p:cNvCxnSpPr/>
          <p:nvPr/>
        </p:nvCxnSpPr>
        <p:spPr>
          <a:xfrm>
            <a:off x="5294225" y="3330075"/>
            <a:ext cx="0" cy="3112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E8B742B8-67E7-308B-02A8-55A3FB788D97}"/>
              </a:ext>
            </a:extLst>
          </p:cNvPr>
          <p:cNvSpPr/>
          <p:nvPr/>
        </p:nvSpPr>
        <p:spPr>
          <a:xfrm>
            <a:off x="6465766" y="3156665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計算</a:t>
            </a:r>
            <a:r>
              <a:rPr lang="en-US" altLang="zh-TW" sz="1200" dirty="0"/>
              <a:t>1-</a:t>
            </a:r>
            <a:r>
              <a:rPr lang="zh-TW" altLang="en-US" sz="1200" dirty="0"/>
              <a:t>範數距離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08820A7-7F36-F6C1-9FF1-FAE3A9FD9C40}"/>
              </a:ext>
            </a:extLst>
          </p:cNvPr>
          <p:cNvSpPr/>
          <p:nvPr/>
        </p:nvSpPr>
        <p:spPr>
          <a:xfrm>
            <a:off x="9467719" y="2317835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標記與上色</a:t>
            </a: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2C48329A-C2F4-F6AB-F8EA-7D4549BAE944}"/>
              </a:ext>
            </a:extLst>
          </p:cNvPr>
          <p:cNvSpPr/>
          <p:nvPr/>
        </p:nvSpPr>
        <p:spPr>
          <a:xfrm>
            <a:off x="828674" y="1600200"/>
            <a:ext cx="3089836" cy="44672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54AC4439-BE41-B72E-070B-F33A214EB85B}"/>
              </a:ext>
            </a:extLst>
          </p:cNvPr>
          <p:cNvSpPr/>
          <p:nvPr/>
        </p:nvSpPr>
        <p:spPr>
          <a:xfrm>
            <a:off x="4324747" y="1609725"/>
            <a:ext cx="3698292" cy="44672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6904168-60FA-AA89-E69A-D4A0539C7025}"/>
              </a:ext>
            </a:extLst>
          </p:cNvPr>
          <p:cNvSpPr/>
          <p:nvPr/>
        </p:nvSpPr>
        <p:spPr>
          <a:xfrm>
            <a:off x="8482027" y="1609725"/>
            <a:ext cx="2823815" cy="44672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3266A28A-435A-ADB3-B07A-63B0F9853641}"/>
              </a:ext>
            </a:extLst>
          </p:cNvPr>
          <p:cNvSpPr txBox="1"/>
          <p:nvPr/>
        </p:nvSpPr>
        <p:spPr>
          <a:xfrm>
            <a:off x="1652574" y="1256236"/>
            <a:ext cx="1190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800" dirty="0"/>
              <a:t>前處理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BE4FC095-1FDD-79C0-16C7-EF75F60A4ACC}"/>
              </a:ext>
            </a:extLst>
          </p:cNvPr>
          <p:cNvSpPr txBox="1"/>
          <p:nvPr/>
        </p:nvSpPr>
        <p:spPr>
          <a:xfrm>
            <a:off x="5500615" y="1256236"/>
            <a:ext cx="1190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800" dirty="0"/>
              <a:t>路面提取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9196315" y="1230868"/>
            <a:ext cx="1190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800" dirty="0"/>
              <a:t>輸出</a:t>
            </a: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266C17FA-D8CB-4283-AB95-4CAC60F532BC}"/>
              </a:ext>
            </a:extLst>
          </p:cNvPr>
          <p:cNvCxnSpPr>
            <a:cxnSpLocks/>
            <a:stCxn id="5" idx="2"/>
            <a:endCxn id="40" idx="0"/>
          </p:cNvCxnSpPr>
          <p:nvPr/>
        </p:nvCxnSpPr>
        <p:spPr>
          <a:xfrm rot="5400000" flipH="1" flipV="1">
            <a:off x="5237148" y="2359118"/>
            <a:ext cx="1900307" cy="1747698"/>
          </a:xfrm>
          <a:prstGeom prst="bentConnector5">
            <a:avLst>
              <a:gd name="adj1" fmla="val -33481"/>
              <a:gd name="adj2" fmla="val 50000"/>
              <a:gd name="adj3" fmla="val 11203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B13AF3F8-810B-4181-AABD-AE2BA985B934}"/>
              </a:ext>
            </a:extLst>
          </p:cNvPr>
          <p:cNvCxnSpPr>
            <a:cxnSpLocks/>
            <a:stCxn id="21" idx="2"/>
            <a:endCxn id="84" idx="0"/>
          </p:cNvCxnSpPr>
          <p:nvPr/>
        </p:nvCxnSpPr>
        <p:spPr>
          <a:xfrm rot="5400000" flipH="1" flipV="1">
            <a:off x="7420638" y="1950703"/>
            <a:ext cx="2275334" cy="3009597"/>
          </a:xfrm>
          <a:prstGeom prst="bentConnector5">
            <a:avLst>
              <a:gd name="adj1" fmla="val -10047"/>
              <a:gd name="adj2" fmla="val 60616"/>
              <a:gd name="adj3" fmla="val 11004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B4176F52-4C93-8ED0-8F88-2A843902ACDA}"/>
              </a:ext>
            </a:extLst>
          </p:cNvPr>
          <p:cNvCxnSpPr>
            <a:cxnSpLocks/>
          </p:cNvCxnSpPr>
          <p:nvPr/>
        </p:nvCxnSpPr>
        <p:spPr>
          <a:xfrm>
            <a:off x="2968039" y="4165214"/>
            <a:ext cx="0" cy="3112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45B0B58-5876-2650-7439-010F7885F218}"/>
              </a:ext>
            </a:extLst>
          </p:cNvPr>
          <p:cNvSpPr/>
          <p:nvPr/>
        </p:nvSpPr>
        <p:spPr>
          <a:xfrm>
            <a:off x="4698840" y="2765665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LBP</a:t>
            </a:r>
            <a:br>
              <a:rPr lang="en-US" altLang="zh-TW" sz="1200" dirty="0"/>
            </a:br>
            <a:r>
              <a:rPr lang="zh-TW" altLang="en-US" sz="1200" dirty="0"/>
              <a:t>紋路計算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FE5CC9-D994-9703-5A93-A0E4599D0FC8}"/>
              </a:ext>
            </a:extLst>
          </p:cNvPr>
          <p:cNvSpPr/>
          <p:nvPr/>
        </p:nvSpPr>
        <p:spPr>
          <a:xfrm>
            <a:off x="4718068" y="3638451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統計直方圖</a:t>
            </a:r>
          </a:p>
        </p:txBody>
      </p:sp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CEBB6678-A846-D9DE-38D9-075BCF278486}"/>
              </a:ext>
            </a:extLst>
          </p:cNvPr>
          <p:cNvCxnSpPr>
            <a:cxnSpLocks/>
          </p:cNvCxnSpPr>
          <p:nvPr/>
        </p:nvCxnSpPr>
        <p:spPr>
          <a:xfrm>
            <a:off x="2132353" y="2158110"/>
            <a:ext cx="3145409" cy="629638"/>
          </a:xfrm>
          <a:prstGeom prst="bentConnector3">
            <a:avLst>
              <a:gd name="adj1" fmla="val 100086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CEAE6708-0E34-B8CE-50E7-85A43355469A}"/>
              </a:ext>
            </a:extLst>
          </p:cNvPr>
          <p:cNvSpPr/>
          <p:nvPr/>
        </p:nvSpPr>
        <p:spPr>
          <a:xfrm>
            <a:off x="6458122" y="4048500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比較</a:t>
            </a:r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F7F133F2-7B67-4C12-1D4D-F6B9107184A0}"/>
              </a:ext>
            </a:extLst>
          </p:cNvPr>
          <p:cNvCxnSpPr/>
          <p:nvPr/>
        </p:nvCxnSpPr>
        <p:spPr>
          <a:xfrm>
            <a:off x="7053506" y="2827482"/>
            <a:ext cx="0" cy="3112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11A2E16-F361-CBC9-1FAB-1173ACC3CB1F}"/>
              </a:ext>
            </a:extLst>
          </p:cNvPr>
          <p:cNvCxnSpPr/>
          <p:nvPr/>
        </p:nvCxnSpPr>
        <p:spPr>
          <a:xfrm>
            <a:off x="7053506" y="3742954"/>
            <a:ext cx="0" cy="3112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78928569-2A3A-D64C-8438-88858CD82820}"/>
              </a:ext>
            </a:extLst>
          </p:cNvPr>
          <p:cNvSpPr/>
          <p:nvPr/>
        </p:nvSpPr>
        <p:spPr>
          <a:xfrm>
            <a:off x="932224" y="2795954"/>
            <a:ext cx="1190769" cy="5446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參數設置</a:t>
            </a: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1609246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 dirty="0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812478" y="1363070"/>
            <a:ext cx="34069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preprocess_with_sobel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輸入圖片，使用</a:t>
            </a:r>
            <a:r>
              <a:rPr lang="en-US" altLang="zh-TW" dirty="0"/>
              <a:t>Sobel</a:t>
            </a:r>
            <a:r>
              <a:rPr lang="zh-TW" altLang="en-US" dirty="0"/>
              <a:t>算子進行邊緣檢測，輸出</a:t>
            </a:r>
            <a:r>
              <a:rPr lang="en-US" altLang="zh-TW" dirty="0" err="1"/>
              <a:t>sobel</a:t>
            </a:r>
            <a:r>
              <a:rPr lang="zh-TW" altLang="en-US" dirty="0"/>
              <a:t>邊緣圖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04520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 dirty="0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812478" y="1363070"/>
            <a:ext cx="21290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lbp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輸入圖片，進行</a:t>
            </a:r>
            <a:r>
              <a:rPr lang="en-US" altLang="zh-TW" dirty="0" err="1"/>
              <a:t>local_binary_pattern</a:t>
            </a:r>
            <a:r>
              <a:rPr lang="zh-TW" altLang="en-US" dirty="0"/>
              <a:t>，輸出</a:t>
            </a:r>
            <a:r>
              <a:rPr lang="en-US" altLang="zh-TW" dirty="0"/>
              <a:t>LBP</a:t>
            </a:r>
            <a:r>
              <a:rPr lang="zh-TW" altLang="en-US" dirty="0"/>
              <a:t>特徵圖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308324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 dirty="0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771181" y="1363070"/>
            <a:ext cx="38448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calculate_lbp_histogram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輸入圖片以及參數，進行</a:t>
            </a:r>
            <a:r>
              <a:rPr lang="en-US" altLang="zh-TW" b="0" i="0" dirty="0" err="1">
                <a:solidFill>
                  <a:srgbClr val="ABB2BF"/>
                </a:solidFill>
                <a:effectLst/>
                <a:latin typeface="Fira Code" pitchFamily="1" charset="0"/>
              </a:rPr>
              <a:t>np.histogram</a:t>
            </a:r>
            <a:r>
              <a:rPr lang="zh-TW" altLang="en-US" dirty="0"/>
              <a:t>，輸出直方圖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8356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 dirty="0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771181" y="1363070"/>
            <a:ext cx="38448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calculate_lbp_histogram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輸入圖片以及參數，進行</a:t>
            </a:r>
            <a:r>
              <a:rPr lang="en-US" altLang="zh-TW" b="0" i="0" dirty="0" err="1">
                <a:solidFill>
                  <a:srgbClr val="ABB2BF"/>
                </a:solidFill>
                <a:effectLst/>
                <a:latin typeface="Fira Code" pitchFamily="1" charset="0"/>
              </a:rPr>
              <a:t>np.histogram</a:t>
            </a:r>
            <a:r>
              <a:rPr lang="zh-TW" altLang="en-US" dirty="0"/>
              <a:t>，輸出直方圖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47592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 dirty="0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771181" y="1363070"/>
            <a:ext cx="38448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calculate_similarity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輸入</a:t>
            </a:r>
            <a:r>
              <a:rPr lang="en-US" altLang="zh-TW" dirty="0"/>
              <a:t>LBP</a:t>
            </a:r>
            <a:r>
              <a:rPr lang="zh-TW" altLang="en-US" dirty="0"/>
              <a:t>直方圖與闊值參數，計算特徵圖中相似的區域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65606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 dirty="0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771181" y="1363070"/>
            <a:ext cx="38448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overlay_color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輸入原始圖片，將特定區域塗上顏色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242514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DA525-EDE2-4E29-8D18-3F61AD806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394" y="-88086"/>
            <a:ext cx="10515600" cy="1325563"/>
          </a:xfrm>
        </p:spPr>
        <p:txBody>
          <a:bodyPr/>
          <a:lstStyle/>
          <a:p>
            <a:r>
              <a:rPr lang="en-US" altLang="zh-TW" b="1"/>
              <a:t>API</a:t>
            </a:r>
            <a:endParaRPr lang="zh-TW" altLang="en-US" b="1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9237EB1F-043D-F9D8-B294-A62F59C8DB91}"/>
              </a:ext>
            </a:extLst>
          </p:cNvPr>
          <p:cNvSpPr txBox="1"/>
          <p:nvPr/>
        </p:nvSpPr>
        <p:spPr>
          <a:xfrm>
            <a:off x="771181" y="1363070"/>
            <a:ext cx="38448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b="0" i="0" dirty="0" err="1">
                <a:solidFill>
                  <a:srgbClr val="61AFEF"/>
                </a:solidFill>
                <a:effectLst/>
                <a:latin typeface="Fira Code" pitchFamily="1" charset="0"/>
              </a:rPr>
              <a:t>Display_result</a:t>
            </a:r>
            <a:r>
              <a:rPr lang="zh-TW" altLang="en-US" b="0" i="0" dirty="0">
                <a:solidFill>
                  <a:srgbClr val="61AFEF"/>
                </a:solidFill>
                <a:effectLst/>
                <a:latin typeface="Fira Code" pitchFamily="1" charset="0"/>
              </a:rPr>
              <a:t>：</a:t>
            </a:r>
            <a:endParaRPr lang="en-US" altLang="zh-TW" b="0" i="0" dirty="0">
              <a:solidFill>
                <a:srgbClr val="61AFEF"/>
              </a:solidFill>
              <a:effectLst/>
              <a:latin typeface="Fira Code" pitchFamily="1" charset="0"/>
            </a:endParaRPr>
          </a:p>
          <a:p>
            <a:pPr algn="just"/>
            <a:r>
              <a:rPr lang="zh-TW" altLang="en-US" dirty="0"/>
              <a:t>顯示結果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72168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13972</TotalTime>
  <Words>167</Words>
  <Application>Microsoft Office PowerPoint</Application>
  <PresentationFormat>寬螢幕</PresentationFormat>
  <Paragraphs>42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4" baseType="lpstr">
      <vt:lpstr>Arial</vt:lpstr>
      <vt:lpstr>Calibri</vt:lpstr>
      <vt:lpstr>Fira Code</vt:lpstr>
      <vt:lpstr>Times New Roman</vt:lpstr>
      <vt:lpstr>Office 佈景主題</vt:lpstr>
      <vt:lpstr>設計 – 架構圖</vt:lpstr>
      <vt:lpstr>流程</vt:lpstr>
      <vt:lpstr>API</vt:lpstr>
      <vt:lpstr>API</vt:lpstr>
      <vt:lpstr>API</vt:lpstr>
      <vt:lpstr>API</vt:lpstr>
      <vt:lpstr>API</vt:lpstr>
      <vt:lpstr>API</vt:lpstr>
      <vt:lpstr>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設計 – 架構圖</dc:title>
  <dc:creator>User</dc:creator>
  <cp:lastModifiedBy>阿 暉</cp:lastModifiedBy>
  <cp:revision>853</cp:revision>
  <dcterms:created xsi:type="dcterms:W3CDTF">2019-03-11T13:47:46Z</dcterms:created>
  <dcterms:modified xsi:type="dcterms:W3CDTF">2024-11-07T05:21:30Z</dcterms:modified>
</cp:coreProperties>
</file>